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F5B1C2-8D50-8693-2B04-44F204A20DE0}" name="u2023346" initials="u" userId="S::u2023346@giki.edu.pk::a66093c0-cdb4-4581-b151-9d120d8c0b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A99DE8-3BAF-4114-8856-86BBB6ECAE5C}" v="5" dt="2026-05-12T14:03:02.781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70645-F68A-1CDF-40F8-A78F5CF5D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6CDDE-482B-8AA7-D414-0946EABC5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EC6D4-69E6-AD1A-CE19-31875ED47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9DB43-C952-FBB6-369A-5F18A10CF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086D2-A135-CCB0-D44D-359DB038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9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7216-3C6F-E273-2AF7-F67B86839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58876-3014-588E-9F0C-E3A23EF4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C036C-8A24-564A-1CD1-99A7908E0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E0FC9-1316-673C-2760-F125C1A0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426AB-959A-C404-08D7-D12B8096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5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E060-04E0-A5FE-88BF-284642F7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73B56-DECB-C34C-7FED-B59D670F0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20204-FB2F-BD9A-7A72-1B49AD17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11D96-DC96-11A2-BD48-D5886852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C52AB-1DA2-DC76-1041-F7AA79DB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2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5E66-59F2-834F-F2BE-714F378E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D938F-726F-C43A-EF71-907CF0341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6960A-F92F-8337-0217-5C33F141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5F161-A556-B88F-BCCC-096C6E90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91B48-D455-14E6-C9D6-1181A623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AA2AE-55BE-710E-0EA7-140E4355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0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7E76-2CF1-A8F8-44A7-92CFD23C4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20B48-CEC1-6E99-5FD1-4305B33AD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8EDD2-0447-DA68-34DC-95FCEC966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1C61B-6EF5-AB1E-2C49-2D3682351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D0340-11A4-E7D4-75FF-20F7CA71E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5CBCE1-1E1A-B610-76EF-55404FD6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CDA9D-2A82-6C9D-CF67-1748F8BE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DD2F4-A290-77A9-195E-B941A839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0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23CDD-0391-58BA-3679-959F9039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60B7D-C38E-853C-DC7F-1F5B1E62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11C63-1D47-3FC0-708C-543B4627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F4EB8-99FE-05B2-4D87-E81394C9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58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F1429E-259C-DC84-CB26-A4232706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29A09-590B-836B-9781-31986A80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D1A2-ADE4-2EB9-9F20-E6C729D7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7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0C04-3AFD-DC05-F30D-18B1C6E9F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A79A6-961B-619B-F9A2-7F5D42F4A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BA16C-61B8-7025-1A55-D7BE5E188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364C3-DDF8-25C2-C7A4-92E01EE29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C051F-0983-C962-10B8-D9354C8DB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8F2F0-AC0A-8854-31D3-9ED49BBC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3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34DD-0496-7A77-A242-BAD58EF1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9F781-05DD-7D9E-4F93-B39D373C0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91601-6FC7-630A-08F4-563DADC3F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5357F-2259-7085-251F-ACF994D5A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8725D-2B4E-AA47-2050-3B2EC974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1C4ED-5CA0-CC47-6ECB-8C0C5DFC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43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9423-B9E6-0497-7D4E-7737105B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FD684-B742-8015-7CF5-4E9066AF9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E2F2D-1798-9B24-786A-1CDA210C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FCCCE-8971-48DD-C134-7D6CACA0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68858-40C3-FCF7-D979-60FF3F8E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9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6EB2AA-A02D-C2D1-AB95-3CD704EE1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C4BEE-6C5A-C330-EB7A-EBE7A57EE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8B113-5B64-4A25-AB58-7280B76A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F22F3-34FF-3294-E142-AC9D4FAC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C42E5-01B7-29A9-47CB-41A5E96D2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0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6469C6-2ABF-61F0-8ADF-C79081DE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4E46-B596-F177-759D-6DD62C88C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3B6C7-E026-C9DB-E7CF-AFD80C75E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09082-8179-4B93-AC36-426AA8F22AF6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C71B6-F82D-5585-F8F7-57F0A0052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0543E-D052-EA93-B722-ADAE68EDB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6BF4B-09ED-47DA-A289-291A2185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76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A4F6-A80F-6400-3D29-D849A3FE5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387" y="571963"/>
            <a:ext cx="9144000" cy="888482"/>
          </a:xfrm>
        </p:spPr>
        <p:txBody>
          <a:bodyPr>
            <a:normAutofit/>
          </a:bodyPr>
          <a:lstStyle/>
          <a:p>
            <a:r>
              <a:rPr lang="en-US" sz="2800" b="1" dirty="0"/>
              <a:t>Algorithm Design and Implementation for Automated Timetable Scheduling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A7089-1D4A-F17A-F5CB-BF5AC0DD6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724" y="94594"/>
            <a:ext cx="692012" cy="692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484B9B-2C55-A8BC-9E27-61028F931395}"/>
              </a:ext>
            </a:extLst>
          </p:cNvPr>
          <p:cNvSpPr txBox="1"/>
          <p:nvPr/>
        </p:nvSpPr>
        <p:spPr>
          <a:xfrm>
            <a:off x="1408387" y="2564212"/>
            <a:ext cx="9144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Presenters:</a:t>
            </a:r>
          </a:p>
          <a:p>
            <a:pPr algn="ctr"/>
            <a:r>
              <a:rPr lang="en-US" sz="2000" b="1" dirty="0"/>
              <a:t> </a:t>
            </a:r>
          </a:p>
          <a:p>
            <a:pPr algn="ctr"/>
            <a:r>
              <a:rPr lang="en-US" sz="2000" dirty="0"/>
              <a:t>Muhammad Abdullah Mahsud 2023346 </a:t>
            </a:r>
          </a:p>
          <a:p>
            <a:pPr algn="ctr"/>
            <a:r>
              <a:rPr lang="en-US" sz="2000" dirty="0"/>
              <a:t>Mujeeb U Rehman 2023558</a:t>
            </a:r>
          </a:p>
          <a:p>
            <a:pPr algn="ctr"/>
            <a:r>
              <a:rPr lang="en-US" sz="2000" dirty="0"/>
              <a:t>Faizan Ali 2023192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/>
              <a:t>GIK Institute of Engineering Sciences and Technology (GIKI</a:t>
            </a:r>
            <a:r>
              <a:rPr lang="en-US" sz="2000" dirty="0"/>
              <a:t>)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Course:</a:t>
            </a:r>
          </a:p>
          <a:p>
            <a:pPr algn="ctr"/>
            <a:r>
              <a:rPr lang="en-US" sz="2000" dirty="0"/>
              <a:t>CS378 Design &amp; Analysis of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CBAC6-28A6-E0C6-69A3-CC8E168441FE}"/>
              </a:ext>
            </a:extLst>
          </p:cNvPr>
          <p:cNvSpPr txBox="1"/>
          <p:nvPr/>
        </p:nvSpPr>
        <p:spPr>
          <a:xfrm>
            <a:off x="1408387" y="1460445"/>
            <a:ext cx="914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For GIKI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846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3479E-3CD9-DC95-803B-D908AC70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887C1-5A7E-263D-B94C-D6F26F7BE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387" y="571963"/>
            <a:ext cx="9144000" cy="888482"/>
          </a:xfrm>
        </p:spPr>
        <p:txBody>
          <a:bodyPr>
            <a:normAutofit/>
          </a:bodyPr>
          <a:lstStyle/>
          <a:p>
            <a:r>
              <a:rPr lang="en-US" sz="2800" b="1" dirty="0"/>
              <a:t>Introduction &amp; The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0CC5B-81BF-B9AA-1276-815EEE70F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386" y="1734206"/>
            <a:ext cx="9144000" cy="3520965"/>
          </a:xfrm>
        </p:spPr>
        <p:txBody>
          <a:bodyPr numCol="1">
            <a:normAutofit/>
          </a:bodyPr>
          <a:lstStyle/>
          <a:p>
            <a:pPr algn="l"/>
            <a:r>
              <a:rPr lang="en-US" b="1" dirty="0"/>
              <a:t>Challenge: </a:t>
            </a:r>
            <a:r>
              <a:rPr lang="en-US" dirty="0"/>
              <a:t>University course timetabling is a notoriously complex, NP-hard combinatorial optimization problem.</a:t>
            </a:r>
          </a:p>
          <a:p>
            <a:pPr algn="l"/>
            <a:r>
              <a:rPr lang="en-US" b="1" dirty="0"/>
              <a:t>The Scale:</a:t>
            </a:r>
            <a:r>
              <a:rPr lang="en-US" dirty="0"/>
              <a:t> As the number of courses, student sections, faculty, and rooms grows exponentially, brute-force scheduling becomes computationally impossible.</a:t>
            </a:r>
          </a:p>
          <a:p>
            <a:pPr algn="l"/>
            <a:r>
              <a:rPr lang="en-US" b="1" dirty="0"/>
              <a:t>Manual Limitations:</a:t>
            </a:r>
            <a:r>
              <a:rPr lang="en-US" dirty="0"/>
              <a:t> Traditional manual scheduling is slow, highly prone to errors, and fails to scale with institutional growth.</a:t>
            </a:r>
          </a:p>
          <a:p>
            <a:pPr algn="l"/>
            <a:r>
              <a:rPr lang="en-US" b="1" dirty="0"/>
              <a:t>Objective:</a:t>
            </a:r>
            <a:r>
              <a:rPr lang="en-US" dirty="0"/>
              <a:t> To design and implement an automated, intelligent scheduler for GIKI that handles hundreds of constraints efficiently.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DAD11-EC7A-2C71-7B04-A49F14651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724" y="94594"/>
            <a:ext cx="692012" cy="69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2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417A9-92EA-862C-3A74-F6EBBFC5A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38E1-D3AD-FC91-4853-CA1CF69D9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387" y="571963"/>
            <a:ext cx="9144000" cy="888482"/>
          </a:xfrm>
        </p:spPr>
        <p:txBody>
          <a:bodyPr>
            <a:normAutofit/>
          </a:bodyPr>
          <a:lstStyle/>
          <a:p>
            <a:r>
              <a:rPr lang="en-US" sz="2800" b="1" dirty="0"/>
              <a:t>Project Overview &amp; Core Entities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309FA-2FD4-0CD1-2898-2182993FD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387" y="1734206"/>
            <a:ext cx="9995338" cy="4551831"/>
          </a:xfrm>
        </p:spPr>
        <p:txBody>
          <a:bodyPr numCol="1"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Approach:</a:t>
            </a:r>
            <a:r>
              <a:rPr lang="en-US" dirty="0"/>
              <a:t> Modeled the timetable generation as a Constraint Satisfaction Problem (CSP) built in Python.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Problem Entities: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b="1" dirty="0"/>
              <a:t>Courses &amp; Teachers:</a:t>
            </a:r>
            <a:r>
              <a:rPr lang="en-US" sz="2400" dirty="0"/>
              <a:t> Handled across multiple departments. 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b="1" dirty="0"/>
              <a:t>Rooms &amp; Time Slots:</a:t>
            </a:r>
            <a:r>
              <a:rPr lang="en-US" sz="2400" dirty="0"/>
              <a:t> Physical constraints and discrete Monday-Friday blocks.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b="1" dirty="0"/>
              <a:t>Sections:</a:t>
            </a:r>
            <a:r>
              <a:rPr lang="en-US" sz="2400" dirty="0"/>
              <a:t> Student cohorts grouped by department and semester.</a:t>
            </a:r>
          </a:p>
          <a:p>
            <a:pPr marL="457200" indent="-457200" algn="l">
              <a:buFont typeface="+mj-lt"/>
              <a:buAutoNum type="arabicPeriod"/>
            </a:pPr>
            <a:endParaRPr lang="en-US" b="1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Credit-Hour Expansion:</a:t>
            </a:r>
            <a:r>
              <a:rPr lang="en-US" dirty="0"/>
              <a:t> A critical pre-processing step where a multi-credit course is automatically split into distinct, independent scheduling variables.</a:t>
            </a:r>
            <a:endParaRPr lang="en-US" b="1" dirty="0"/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B09E4-B9AB-7358-E86D-1618D942C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724" y="94594"/>
            <a:ext cx="692012" cy="69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8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64A21-E140-956E-D5D4-9A1FB33B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97F30-D5ED-C79B-BE04-4E3CFFF4A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387" y="571963"/>
            <a:ext cx="9144000" cy="888482"/>
          </a:xfrm>
        </p:spPr>
        <p:txBody>
          <a:bodyPr>
            <a:normAutofit/>
          </a:bodyPr>
          <a:lstStyle/>
          <a:p>
            <a:r>
              <a:rPr lang="en-US" sz="2800" b="1" dirty="0"/>
              <a:t>Algorithm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68C0D-B215-9068-D145-4E545E31D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386" y="1734206"/>
            <a:ext cx="9144000" cy="4130565"/>
          </a:xfrm>
        </p:spPr>
        <p:txBody>
          <a:bodyPr numCol="1"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Core Algorithm:</a:t>
            </a:r>
            <a:r>
              <a:rPr lang="en-US" dirty="0"/>
              <a:t> Backtracking Search. It methodically explores assignments and backtracks to the last choice point when a conflict is detected.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Partitioned Solving Strategy:</a:t>
            </a:r>
            <a:r>
              <a:rPr lang="en-US" dirty="0"/>
              <a:t> To prevent the search space from exploding, the solver doesn't do everything at once.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/>
              <a:t>Solves section-by-section and semester-by-semester independently.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/>
              <a:t>Uses an "auto-bucketing" mechanism limiting batches to ~20 sessions to maintain speed.</a:t>
            </a:r>
          </a:p>
          <a:p>
            <a:pPr marL="914400" lvl="1" indent="-457200" algn="l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1D383-7EF6-CE45-833E-B27BF781E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724" y="94594"/>
            <a:ext cx="692012" cy="69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17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EC03-51EF-A238-84D4-C3C217294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A19A-5BEE-384E-F769-2933FD048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387" y="571963"/>
            <a:ext cx="9144000" cy="888482"/>
          </a:xfrm>
        </p:spPr>
        <p:txBody>
          <a:bodyPr>
            <a:normAutofit/>
          </a:bodyPr>
          <a:lstStyle/>
          <a:p>
            <a:r>
              <a:rPr lang="en-US" sz="2800" b="1" dirty="0"/>
              <a:t>Advanced Search Heuristics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25379-EFAE-AF32-BB10-C1454864F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387" y="1734207"/>
            <a:ext cx="9144000" cy="4141076"/>
          </a:xfrm>
        </p:spPr>
        <p:txBody>
          <a:bodyPr numCol="1"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To avoid the worst-case exponential time complexity (O(</a:t>
            </a:r>
            <a:r>
              <a:rPr lang="en-US" dirty="0" err="1"/>
              <a:t>d^n</a:t>
            </a:r>
            <a:r>
              <a:rPr lang="en-US" dirty="0"/>
              <a:t>)), two classic AI heuristics are used: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Minimum Remaining Values (MRV):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/>
              <a:t>Selects the variable (course session) with the fewest valid room/time options left. 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400" dirty="0"/>
              <a:t>Tackles bottlenecks early to prevent massive failures later.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Forward Checking:</a:t>
            </a:r>
            <a:r>
              <a:rPr lang="en-US" dirty="0"/>
              <a:t> Whenever a tentative assignment is made, the algorithm looks ahead and temporarily removes conflicting options from future variables.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sz="2400" dirty="0"/>
              <a:t>Dramatically reduces the effective branching factor.</a:t>
            </a:r>
          </a:p>
          <a:p>
            <a:pPr algn="l"/>
            <a:endParaRPr lang="en-US" dirty="0"/>
          </a:p>
          <a:p>
            <a:pPr lvl="1" algn="l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A818B-6703-98CD-82F5-7A1681296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724" y="94594"/>
            <a:ext cx="692012" cy="69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0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683FA-C63C-B566-6D9B-E73B615A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5A25-6C1D-008B-FE26-40FF2F1A3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387" y="571963"/>
            <a:ext cx="9144000" cy="888482"/>
          </a:xfrm>
        </p:spPr>
        <p:txBody>
          <a:bodyPr>
            <a:normAutofit/>
          </a:bodyPr>
          <a:lstStyle/>
          <a:p>
            <a:r>
              <a:rPr lang="en-US" sz="2800" b="1" dirty="0"/>
              <a:t>Managing Constraints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6642F-2A1C-41A7-5D54-193A6A860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883" y="1555532"/>
            <a:ext cx="11706853" cy="4929352"/>
          </a:xfrm>
        </p:spPr>
        <p:txBody>
          <a:bodyPr numCol="1">
            <a:noAutofit/>
          </a:bodyPr>
          <a:lstStyle/>
          <a:p>
            <a:pPr algn="l"/>
            <a:r>
              <a:rPr lang="en-US" b="1" dirty="0"/>
              <a:t>Hard Constraints: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i="1" dirty="0"/>
              <a:t>Teacher Conflicts</a:t>
            </a:r>
            <a:r>
              <a:rPr lang="en-US" i="1" dirty="0"/>
              <a:t>:</a:t>
            </a:r>
            <a:r>
              <a:rPr lang="en-US" dirty="0"/>
              <a:t> Instructors cannot be double-booked, except for shared-curriculum courses taught simultaneously.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i="1" dirty="0"/>
              <a:t>Room Conflicts:</a:t>
            </a:r>
            <a:r>
              <a:rPr lang="en-US" b="1" dirty="0"/>
              <a:t> </a:t>
            </a:r>
            <a:r>
              <a:rPr lang="en-US" dirty="0"/>
              <a:t>No double-booking rooms.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i="1" dirty="0"/>
              <a:t>Building Routing:</a:t>
            </a:r>
            <a:r>
              <a:rPr lang="en-US" b="1" dirty="0"/>
              <a:t> </a:t>
            </a:r>
            <a:r>
              <a:rPr lang="en-US" dirty="0"/>
              <a:t>Forces specific courses to appropriate buildings (e.g., CS lectures strictly in FCSE/Academic Block; Labs strictly in Lab rooms).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i="1" dirty="0"/>
              <a:t>Building Routing:</a:t>
            </a:r>
            <a:r>
              <a:rPr lang="en-US" b="1" dirty="0"/>
              <a:t> </a:t>
            </a:r>
            <a:r>
              <a:rPr lang="en-US" dirty="0"/>
              <a:t>Forces specific courses to appropriate buildings (e.g., CS lectures strictly in FCSE/Academic Block; Labs strictly in Lab rooms). </a:t>
            </a:r>
          </a:p>
          <a:p>
            <a:pPr algn="l"/>
            <a:r>
              <a:rPr lang="en-US" b="1" dirty="0"/>
              <a:t>Soft Constraints: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i="1" dirty="0"/>
              <a:t>Morning Preferences:</a:t>
            </a:r>
            <a:r>
              <a:rPr lang="en-US" b="1" dirty="0"/>
              <a:t> </a:t>
            </a:r>
            <a:r>
              <a:rPr lang="en-US" dirty="0"/>
              <a:t>Prioritizes early slots for junior semesters.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i="1" dirty="0"/>
              <a:t>Capacity Utilization:</a:t>
            </a:r>
            <a:r>
              <a:rPr lang="en-US" b="1" dirty="0"/>
              <a:t> </a:t>
            </a:r>
            <a:r>
              <a:rPr lang="en-US" dirty="0"/>
              <a:t>Scores rooms to match class sizes tightly, punishing both wasted space and overcrowded seating.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85441-5CB3-02B3-188C-F61289BC5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724" y="94594"/>
            <a:ext cx="692012" cy="69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0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0B583-A418-27D2-7903-1982BCD9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 Time Complexity Analysis of BACKTRACK Algorithm</a:t>
            </a:r>
            <a:br>
              <a:rPr lang="en-US" b="1" dirty="0"/>
            </a:b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2AF62-4821-53FD-310C-B9330CC546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052" y="1166864"/>
                <a:ext cx="6093542" cy="2176104"/>
              </a:xfrm>
            </p:spPr>
            <p:txBody>
              <a:bodyPr>
                <a:normAutofit fontScale="925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b="1" dirty="0"/>
                  <a:t>Step 1 – Define Parameters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: Number of variables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: Maximum domain size</a:t>
                </a:r>
              </a:p>
              <a:p>
                <a:r>
                  <a:rPr lang="en-US" sz="2400" dirty="0"/>
                  <a:t>Constraint checks: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2400" dirty="0"/>
                  <a:t> </a:t>
                </a:r>
                <a:r>
                  <a:rPr lang="en-US" sz="2400" dirty="0"/>
                  <a:t>each (assumed)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b="1" dirty="0"/>
                  <a:t>Step 2 – Work Per Node (Partial Assignment)</a:t>
                </a:r>
              </a:p>
              <a:p>
                <a:endParaRPr lang="en-P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2AF62-4821-53FD-310C-B9330CC546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052" y="1166864"/>
                <a:ext cx="6093542" cy="2176104"/>
              </a:xfrm>
              <a:blipFill>
                <a:blip r:embed="rId2"/>
                <a:stretch>
                  <a:fillRect l="-1100" t="-3081" b="-28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04C0012-B3BD-B490-659B-A6B544D8C4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6995687"/>
                  </p:ext>
                </p:extLst>
              </p:nvPr>
            </p:nvGraphicFramePr>
            <p:xfrm>
              <a:off x="671052" y="3246792"/>
              <a:ext cx="5730240" cy="3499298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2865120">
                      <a:extLst>
                        <a:ext uri="{9D8B030D-6E8A-4147-A177-3AD203B41FA5}">
                          <a16:colId xmlns:a16="http://schemas.microsoft.com/office/drawing/2014/main" val="1150857759"/>
                        </a:ext>
                      </a:extLst>
                    </a:gridCol>
                    <a:gridCol w="2865120">
                      <a:extLst>
                        <a:ext uri="{9D8B030D-6E8A-4147-A177-3AD203B41FA5}">
                          <a16:colId xmlns:a16="http://schemas.microsoft.com/office/drawing/2014/main" val="3823305547"/>
                        </a:ext>
                      </a:extLst>
                    </a:gridCol>
                  </a:tblGrid>
                  <a:tr h="3475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Operation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Cost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L="121920" marR="12192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698420179"/>
                      </a:ext>
                    </a:extLst>
                  </a:tr>
                  <a:tr h="3475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MRV variable selection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b="0" dirty="0">
                            <a:effectLst/>
                            <a:latin typeface="+mn-lt"/>
                          </a:endParaRPr>
                        </a:p>
                      </a:txBody>
                      <a:tcPr marL="12192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703763927"/>
                      </a:ext>
                    </a:extLst>
                  </a:tr>
                  <a:tr h="3475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Sort domain values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func>
                                      <m:func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ar-AE" b="0">
                            <a:effectLst/>
                            <a:latin typeface="+mn-lt"/>
                          </a:endParaRPr>
                        </a:p>
                      </a:txBody>
                      <a:tcPr marL="12192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798383919"/>
                      </a:ext>
                    </a:extLst>
                  </a:tr>
                  <a:tr h="5605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 dirty="0">
                              <a:effectLst/>
                            </a:rPr>
                            <a:t>Consistency check (one value)</a:t>
                          </a:r>
                          <a:endParaRPr lang="en-US" b="0" dirty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b="0" dirty="0">
                            <a:effectLst/>
                            <a:latin typeface="+mn-lt"/>
                          </a:endParaRPr>
                        </a:p>
                      </a:txBody>
                      <a:tcPr marL="12192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52838086"/>
                      </a:ext>
                    </a:extLst>
                  </a:tr>
                  <a:tr h="5605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Forward checking (one value)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b="0" dirty="0">
                            <a:effectLst/>
                            <a:latin typeface="+mn-lt"/>
                          </a:endParaRPr>
                        </a:p>
                      </a:txBody>
                      <a:tcPr marL="12192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970945744"/>
                      </a:ext>
                    </a:extLst>
                  </a:tr>
                  <a:tr h="3475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1">
                              <a:effectLst/>
                            </a:rPr>
                            <a:t>Total per value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b="0">
                            <a:effectLst/>
                            <a:latin typeface="+mn-lt"/>
                          </a:endParaRPr>
                        </a:p>
                      </a:txBody>
                      <a:tcPr marL="12192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567769994"/>
                      </a:ext>
                    </a:extLst>
                  </a:tr>
                  <a:tr h="56053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1">
                              <a:effectLst/>
                            </a:rPr>
                            <a:t>Total per node</a:t>
                          </a:r>
                          <a:r>
                            <a:rPr lang="en-US" b="0">
                              <a:effectLst/>
                            </a:rPr>
                            <a:t> (over </a:t>
                          </a:r>
                          <a14:m>
                            <m:oMath xmlns:m="http://schemas.openxmlformats.org/officeDocument/2006/math"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US" b="0">
                              <a:effectLst/>
                            </a:rPr>
                            <a:t> values)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ar-AE" b="0" dirty="0">
                            <a:effectLst/>
                            <a:latin typeface="+mn-lt"/>
                          </a:endParaRPr>
                        </a:p>
                      </a:txBody>
                      <a:tcPr marL="12192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39068827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04C0012-B3BD-B490-659B-A6B544D8C4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6995687"/>
                  </p:ext>
                </p:extLst>
              </p:nvPr>
            </p:nvGraphicFramePr>
            <p:xfrm>
              <a:off x="671052" y="3246792"/>
              <a:ext cx="5730240" cy="3499298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2865120">
                      <a:extLst>
                        <a:ext uri="{9D8B030D-6E8A-4147-A177-3AD203B41FA5}">
                          <a16:colId xmlns:a16="http://schemas.microsoft.com/office/drawing/2014/main" val="1150857759"/>
                        </a:ext>
                      </a:extLst>
                    </a:gridCol>
                    <a:gridCol w="2865120">
                      <a:extLst>
                        <a:ext uri="{9D8B030D-6E8A-4147-A177-3AD203B41FA5}">
                          <a16:colId xmlns:a16="http://schemas.microsoft.com/office/drawing/2014/main" val="3823305547"/>
                        </a:ext>
                      </a:extLst>
                    </a:gridCol>
                  </a:tblGrid>
                  <a:tr h="3966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Operation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Cost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L="121920" marR="12192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698420179"/>
                      </a:ext>
                    </a:extLst>
                  </a:tr>
                  <a:tr h="3966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MRV variable selection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21920" marT="76200" marB="76200" anchor="ctr">
                        <a:blipFill>
                          <a:blip r:embed="rId3"/>
                          <a:stretch>
                            <a:fillRect l="-100213" t="-106154" r="-426" b="-70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763927"/>
                      </a:ext>
                    </a:extLst>
                  </a:tr>
                  <a:tr h="3966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Sort domain values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21920" marT="76200" marB="76200" anchor="ctr">
                        <a:blipFill>
                          <a:blip r:embed="rId3"/>
                          <a:stretch>
                            <a:fillRect l="-100213" t="-203030" r="-426" b="-59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383919"/>
                      </a:ext>
                    </a:extLst>
                  </a:tr>
                  <a:tr h="6379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 dirty="0">
                              <a:effectLst/>
                            </a:rPr>
                            <a:t>Consistency check (one value)</a:t>
                          </a:r>
                          <a:endParaRPr lang="en-US" b="0" dirty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21920" marT="76200" marB="76200" anchor="ctr">
                        <a:blipFill>
                          <a:blip r:embed="rId3"/>
                          <a:stretch>
                            <a:fillRect l="-100213" t="-192308" r="-426" b="-2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838086"/>
                      </a:ext>
                    </a:extLst>
                  </a:tr>
                  <a:tr h="6379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0">
                              <a:effectLst/>
                            </a:rPr>
                            <a:t>Forward checking (one value)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21920" marT="76200" marB="76200" anchor="ctr">
                        <a:blipFill>
                          <a:blip r:embed="rId3"/>
                          <a:stretch>
                            <a:fillRect l="-100213" t="-289524" r="-426" b="-17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0945744"/>
                      </a:ext>
                    </a:extLst>
                  </a:tr>
                  <a:tr h="3966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75"/>
                            </a:lnSpc>
                            <a:buNone/>
                          </a:pPr>
                          <a:r>
                            <a:rPr lang="en-US" b="1">
                              <a:effectLst/>
                            </a:rPr>
                            <a:t>Total per value</a:t>
                          </a:r>
                          <a:endParaRPr lang="en-US" b="0">
                            <a:effectLst/>
                            <a:latin typeface="+mn-lt"/>
                          </a:endParaRPr>
                        </a:p>
                      </a:txBody>
                      <a:tcPr marR="12192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21920" marT="76200" marB="76200" anchor="ctr">
                        <a:blipFill>
                          <a:blip r:embed="rId3"/>
                          <a:stretch>
                            <a:fillRect l="-100213" t="-629231" r="-426" b="-17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7769994"/>
                      </a:ext>
                    </a:extLst>
                  </a:tr>
                  <a:tr h="636588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R="121920" marT="76200" marB="76200" anchor="ctr">
                        <a:blipFill>
                          <a:blip r:embed="rId3"/>
                          <a:stretch>
                            <a:fillRect t="-451429" r="-100212" b="-1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21920" marT="76200" marB="76200" anchor="ctr">
                        <a:blipFill>
                          <a:blip r:embed="rId3"/>
                          <a:stretch>
                            <a:fillRect l="-100213" t="-451429" r="-426" b="-1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68827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EE2DD2-2F40-F120-58F6-6EBF6C72F351}"/>
                  </a:ext>
                </a:extLst>
              </p:cNvPr>
              <p:cNvSpPr txBox="1"/>
              <p:nvPr/>
            </p:nvSpPr>
            <p:spPr>
              <a:xfrm>
                <a:off x="6568440" y="1027906"/>
                <a:ext cx="6096000" cy="5649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Ø"/>
                </a:pPr>
                <a:r>
                  <a:rPr lang="en-US" sz="2000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Step 3 – Search Tree Size (Worst Case)</a:t>
                </a:r>
                <a:endParaRPr lang="en-US" sz="2000" b="0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0" i="0" dirty="0">
                    <a:solidFill>
                      <a:schemeClr val="tx1"/>
                    </a:solidFill>
                    <a:effectLst/>
                    <a:latin typeface="quote-cjk-patch"/>
                  </a:rPr>
                  <a:t>Branching factor = 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000" b="0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0" i="0" dirty="0">
                    <a:solidFill>
                      <a:schemeClr val="tx1"/>
                    </a:solidFill>
                    <a:effectLst/>
                    <a:latin typeface="quote-cjk-patch"/>
                  </a:rPr>
                  <a:t>Depth = 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b="0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0" i="0" dirty="0">
                    <a:solidFill>
                      <a:schemeClr val="tx1"/>
                    </a:solidFill>
                    <a:effectLst/>
                    <a:latin typeface="quote-cjk-patch"/>
                  </a:rPr>
                  <a:t>Number of nodes: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ctrlPr>
                            <a:rPr lang="ar-AE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ar-AE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0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Ø"/>
                </a:pPr>
                <a:r>
                  <a:rPr lang="en-US" sz="2000" b="1" i="0" dirty="0">
                    <a:solidFill>
                      <a:schemeClr val="tx1"/>
                    </a:solidFill>
                    <a:effectLst/>
                    <a:latin typeface="quote-cjk-patch"/>
                  </a:rPr>
                  <a:t>Step 4 – Total Time Complexity</a:t>
                </a:r>
                <a:endParaRPr lang="en-US" sz="2000" b="0" i="0" dirty="0">
                  <a:solidFill>
                    <a:schemeClr val="tx1"/>
                  </a:solidFill>
                  <a:effectLst/>
                  <a:latin typeface="quote-cjk-patch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ar-AE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ar-A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ar-AE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nodes</m:t>
                              </m:r>
                            </m:e>
                            <m:e/>
                            <m:e/>
                          </m:eqArr>
                        </m:lim>
                      </m:limLow>
                      <m:r>
                        <a:rPr lang="ar-AE" sz="20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limLow>
                        <m:limLowPr>
                          <m:ctrlPr>
                            <a:rPr lang="ar-AE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ar-AE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ar-AE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ar-AE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ar-AE" sz="2000" b="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work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per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node</m:t>
                          </m:r>
                        </m:lim>
                      </m:limLow>
                    </m:oMath>
                  </m:oMathPara>
                </a14:m>
                <a:endParaRPr lang="ar-AE" sz="2000" b="0" dirty="0">
                  <a:solidFill>
                    <a:schemeClr val="tx1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ar-AE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 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borderBox>
                    </m:oMath>
                  </m:oMathPara>
                </a14:m>
                <a:endParaRPr lang="ar-AE" sz="2000" b="0" dirty="0">
                  <a:solidFill>
                    <a:schemeClr val="tx1"/>
                  </a:solidFill>
                </a:endParaRPr>
              </a:p>
              <a:p>
                <a:pPr>
                  <a:buNone/>
                </a:pPr>
                <a:br>
                  <a:rPr lang="ar-AE" sz="2000" dirty="0">
                    <a:solidFill>
                      <a:schemeClr val="tx1"/>
                    </a:solidFill>
                  </a:rPr>
                </a:br>
                <a:endParaRPr lang="en-PK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EE2DD2-2F40-F120-58F6-6EBF6C72F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440" y="1027906"/>
                <a:ext cx="6096000" cy="5649560"/>
              </a:xfrm>
              <a:prstGeom prst="rect">
                <a:avLst/>
              </a:prstGeom>
              <a:blipFill>
                <a:blip r:embed="rId4"/>
                <a:stretch>
                  <a:fillRect l="-900" t="-64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D70BEC0-1D10-A882-5C56-25D08206D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3800" y="20671"/>
            <a:ext cx="688908" cy="6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00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3A35-618B-52D0-2AD7-7367A39B7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0B3E-CF5D-2AE5-B239-01B9A73FB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387" y="571963"/>
            <a:ext cx="9144000" cy="888482"/>
          </a:xfrm>
        </p:spPr>
        <p:txBody>
          <a:bodyPr>
            <a:normAutofit/>
          </a:bodyPr>
          <a:lstStyle/>
          <a:p>
            <a:r>
              <a:rPr lang="en-US" sz="2800" b="1" dirty="0"/>
              <a:t>Tech Stack &amp; System Architecture with Complexity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B5F57-5CA6-B16C-3BF3-AD7ED02EC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734206"/>
            <a:ext cx="11257536" cy="4750677"/>
          </a:xfrm>
        </p:spPr>
        <p:txBody>
          <a:bodyPr numCol="1"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Language &amp; Logic:</a:t>
            </a:r>
            <a:r>
              <a:rPr lang="en-US" dirty="0"/>
              <a:t> Python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Data Ingestion:</a:t>
            </a:r>
            <a:r>
              <a:rPr lang="en-US" dirty="0"/>
              <a:t> Uses pandas and </a:t>
            </a:r>
            <a:r>
              <a:rPr lang="en-US" dirty="0" err="1"/>
              <a:t>openpyxl</a:t>
            </a:r>
            <a:r>
              <a:rPr lang="en-US" dirty="0"/>
              <a:t> to read and parse structured Excel/CSV files containing curriculum and room data.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User Interface:</a:t>
            </a:r>
            <a:r>
              <a:rPr lang="en-US" dirty="0"/>
              <a:t> A custom, interactive desktop GUI built with </a:t>
            </a:r>
            <a:r>
              <a:rPr lang="en-US" dirty="0" err="1"/>
              <a:t>Tkinter</a:t>
            </a:r>
            <a:r>
              <a:rPr lang="en-US" dirty="0"/>
              <a:t>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Output Generation:</a:t>
            </a:r>
            <a:r>
              <a:rPr lang="en-US" dirty="0"/>
              <a:t> Utilizes </a:t>
            </a:r>
            <a:r>
              <a:rPr lang="en-US" dirty="0" err="1"/>
              <a:t>ReportLab</a:t>
            </a:r>
            <a:r>
              <a:rPr lang="en-US" dirty="0"/>
              <a:t> to export formally styled, multi-page PDF documents.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b="1" dirty="0"/>
              <a:t>Time Complexity: </a:t>
            </a:r>
            <a:r>
              <a:rPr lang="en-US" dirty="0"/>
              <a:t>Worst O(</a:t>
            </a:r>
            <a:r>
              <a:rPr lang="en-US" dirty="0" err="1"/>
              <a:t>d^n</a:t>
            </a:r>
            <a:r>
              <a:rPr lang="en-US" dirty="0"/>
              <a:t>), Best O(n). Where n is session variables and d is size of room, slot pairs.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C8FB2-401F-0D4F-5081-C946C3AE0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724" y="94594"/>
            <a:ext cx="692012" cy="69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90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CBFB-590E-E4CF-E77D-52BF4711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D3B2-AF59-56DC-55A3-78BCA7EEE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8897" y="1902372"/>
            <a:ext cx="9101958" cy="1797270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3782A-DB1B-36D1-B3B9-3BA37AA46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3724" y="94594"/>
            <a:ext cx="692012" cy="69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4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694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quote-cjk-patch</vt:lpstr>
      <vt:lpstr>Wingdings</vt:lpstr>
      <vt:lpstr>Office Theme</vt:lpstr>
      <vt:lpstr>Algorithm Design and Implementation for Automated Timetable Scheduling</vt:lpstr>
      <vt:lpstr>Introduction &amp; The Problem</vt:lpstr>
      <vt:lpstr>Project Overview &amp; Core Entities</vt:lpstr>
      <vt:lpstr>Algorithm Design</vt:lpstr>
      <vt:lpstr>Advanced Search Heuristics</vt:lpstr>
      <vt:lpstr>Managing Constraints</vt:lpstr>
      <vt:lpstr> Time Complexity Analysis of BACKTRACK Algorithm </vt:lpstr>
      <vt:lpstr>Tech Stack &amp; System Architecture with Complexity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u2023346</dc:creator>
  <cp:lastModifiedBy>u2023346</cp:lastModifiedBy>
  <cp:revision>12</cp:revision>
  <dcterms:created xsi:type="dcterms:W3CDTF">2026-05-10T19:09:02Z</dcterms:created>
  <dcterms:modified xsi:type="dcterms:W3CDTF">2026-05-13T06:06:39Z</dcterms:modified>
</cp:coreProperties>
</file>